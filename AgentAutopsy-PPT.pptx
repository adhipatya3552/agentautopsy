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embeddedFontLst>
    <p:embeddedFont>
      <p:font typeface="Inter"/>
      <p:regular r:id="rId11"/>
      <p:bold r:id="rId12"/>
      <p:italic r:id="rId13"/>
      <p:boldItalic r:id="rId14"/>
    </p:embeddedFont>
    <p:embeddedFont>
      <p:font typeface="Petrona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6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etrona-bold.fntdata"/><Relationship Id="rId14" Type="http://schemas.openxmlformats.org/officeDocument/2006/relationships/font" Target="fonts/Inter-boldItalic.fntdata"/><Relationship Id="rId16" Type="http://schemas.openxmlformats.org/officeDocument/2006/relationships/font" Target="fonts/Petron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96119" y="949747"/>
            <a:ext cx="3468600" cy="266400"/>
          </a:xfrm>
          <a:prstGeom prst="roundRect">
            <a:avLst>
              <a:gd fmla="val 17880" name="adj"/>
            </a:avLst>
          </a:prstGeom>
          <a:solidFill>
            <a:srgbClr val="E0D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581174" y="992237"/>
            <a:ext cx="3755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HACKATHON · AUTONOMOUS AI &amp; AGENT ORCHESTRATION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96119" y="1272853"/>
            <a:ext cx="4355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3050"/>
              <a:buFont typeface="Petrona"/>
              <a:buNone/>
            </a:pPr>
            <a:r>
              <a:rPr b="1" i="0" lang="en-US" sz="305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AgentAutopsy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96119" y="1816819"/>
            <a:ext cx="7192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2450"/>
              <a:buFont typeface="Petrona"/>
              <a:buNone/>
            </a:pPr>
            <a:r>
              <a:rPr b="1" i="0" lang="en-US" sz="245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Black-Box Flight Recorder for AI Agent Systems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96119" y="2454622"/>
            <a:ext cx="8151900" cy="10500"/>
          </a:xfrm>
          <a:prstGeom prst="rect">
            <a:avLst/>
          </a:prstGeom>
          <a:solidFill>
            <a:srgbClr val="272525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394022" y="2660079"/>
            <a:ext cx="4107000" cy="1533600"/>
          </a:xfrm>
          <a:prstGeom prst="roundRect">
            <a:avLst>
              <a:gd fmla="val 6656" name="adj"/>
            </a:avLst>
          </a:prstGeom>
          <a:solidFill>
            <a:srgbClr val="623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535781" y="2801838"/>
            <a:ext cx="24066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The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35781" y="3187303"/>
            <a:ext cx="38235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Multi-agent failures require hours of manual log-digging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Current tools show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happened, not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749701" y="2801838"/>
            <a:ext cx="24066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The 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749701" y="3187303"/>
            <a:ext cx="39030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Autonomous agent: monitors, detects, and auto-generates root-cause incident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Debugging: hours → minutes; clear explanations for all stakeholders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004800" y="4739853"/>
            <a:ext cx="1139100" cy="361500"/>
          </a:xfrm>
          <a:prstGeom prst="rect">
            <a:avLst/>
          </a:prstGeom>
          <a:solidFill>
            <a:srgbClr val="FDFAF7"/>
          </a:solidFill>
          <a:ln cap="flat" cmpd="sng" w="9525">
            <a:solidFill>
              <a:srgbClr val="FDF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1438721" y="4598268"/>
            <a:ext cx="6723757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External dependencies: </a:t>
            </a:r>
            <a:r>
              <a:rPr b="1" i="0" lang="en-US" sz="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Groq API</a:t>
            </a:r>
            <a:r>
              <a:rPr b="0" i="0" lang="en-US" sz="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(Llama 3.3 70B) for reasoning,</a:t>
            </a:r>
            <a:r>
              <a:rPr b="0" i="0" lang="en-US" sz="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Langfuse Cloud</a:t>
            </a:r>
            <a:r>
              <a:rPr b="0" i="0" lang="en-US" sz="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distributed tracing.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438721" y="426021"/>
            <a:ext cx="676796" cy="159321"/>
          </a:xfrm>
          <a:prstGeom prst="roundRect">
            <a:avLst>
              <a:gd fmla="val 19153" name="adj"/>
            </a:avLst>
          </a:prstGeom>
          <a:noFill/>
          <a:ln cap="flat" cmpd="sng" w="9525">
            <a:solidFill>
              <a:srgbClr val="623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1497955" y="458019"/>
            <a:ext cx="1015529" cy="95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6237C8"/>
              </a:buClr>
              <a:buSzPts val="550"/>
              <a:buFont typeface="Inter"/>
              <a:buNone/>
            </a:pPr>
            <a:r>
              <a:rPr b="0" i="0" lang="en-US" sz="550" u="none" cap="none" strike="noStrike">
                <a:solidFill>
                  <a:srgbClr val="6237C8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438721" y="608558"/>
            <a:ext cx="3215580" cy="312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1950"/>
              <a:buFont typeface="Petrona"/>
              <a:buNone/>
            </a:pPr>
            <a:r>
              <a:rPr b="1" i="0" lang="en-US" sz="195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High-Level Architecture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21" y="1007938"/>
            <a:ext cx="6266557" cy="3524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7958097" y="4739853"/>
            <a:ext cx="1139100" cy="361500"/>
          </a:xfrm>
          <a:prstGeom prst="rect">
            <a:avLst/>
          </a:prstGeom>
          <a:solidFill>
            <a:srgbClr val="FDFAF7"/>
          </a:solidFill>
          <a:ln cap="flat" cmpd="sng" w="9525">
            <a:solidFill>
              <a:srgbClr val="FDF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674489" y="389930"/>
            <a:ext cx="681856" cy="207169"/>
          </a:xfrm>
          <a:prstGeom prst="roundRect">
            <a:avLst>
              <a:gd fmla="val 18322" name="adj"/>
            </a:avLst>
          </a:prstGeom>
          <a:noFill/>
          <a:ln cap="flat" cmpd="sng" w="9525">
            <a:solidFill>
              <a:srgbClr val="623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746968" y="428551"/>
            <a:ext cx="994097" cy="129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37C8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237C8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74489" y="633040"/>
            <a:ext cx="4118967" cy="388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2400"/>
              <a:buFont typeface="Petrona"/>
              <a:buNone/>
            </a:pPr>
            <a:r>
              <a:rPr b="1" i="0" lang="en-US" sz="240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How AgentAutopsy 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36" y="1156320"/>
            <a:ext cx="7730654" cy="333367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1226789" y="3846845"/>
            <a:ext cx="1929230" cy="241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Deliver &amp; Store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226789" y="3075152"/>
            <a:ext cx="1929230" cy="241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Report Generator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226789" y="2311255"/>
            <a:ext cx="1929230" cy="241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Analyzer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226789" y="1539563"/>
            <a:ext cx="1929230" cy="241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Monitor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74489" y="4591199"/>
            <a:ext cx="8252147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SQLite memory enables </a:t>
            </a:r>
            <a:r>
              <a:rPr b="1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pattern recognition</a:t>
            </a: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across recurring failures — each incident improves future diagnosis.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7958097" y="4739853"/>
            <a:ext cx="1139100" cy="361500"/>
          </a:xfrm>
          <a:prstGeom prst="rect">
            <a:avLst/>
          </a:prstGeom>
          <a:solidFill>
            <a:srgbClr val="FDFAF7"/>
          </a:solidFill>
          <a:ln cap="flat" cmpd="sng" w="9525">
            <a:solidFill>
              <a:srgbClr val="FDF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496119" y="1131317"/>
            <a:ext cx="1281485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623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585936" y="1178570"/>
            <a:ext cx="1559049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237C8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237C8"/>
                </a:solidFill>
                <a:latin typeface="Inter"/>
                <a:ea typeface="Inter"/>
                <a:cs typeface="Inter"/>
                <a:sym typeface="Inter"/>
              </a:rPr>
              <a:t>TECHNICAL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96119" y="1463948"/>
            <a:ext cx="6295281" cy="487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3050"/>
              <a:buFont typeface="Petrona"/>
              <a:buNone/>
            </a:pPr>
            <a:r>
              <a:rPr b="1" i="0" lang="en-US" sz="305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Technical Stack &amp; Infrastructure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63812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1027658" y="2163812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1027658" y="2492573"/>
            <a:ext cx="345571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FastAPI (Python) — trace ingestion, report retrieval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rate-limited endpoints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53" y="2163812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5192092" y="2163812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192092" y="2492573"/>
            <a:ext cx="345578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Next.js + Tailwind CSS — live pipeline status, incident history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3229719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1027658" y="3229719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Data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027658" y="3558480"/>
            <a:ext cx="345571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SQLite for incident reports and trace metadata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0553" y="3229719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/>
          <p:nvPr/>
        </p:nvSpPr>
        <p:spPr>
          <a:xfrm>
            <a:off x="5192092" y="3229719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APIs &amp; Security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192092" y="3558480"/>
            <a:ext cx="345578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Langfuse SDK, Groq API (Llama 3.3 70B); API keys via environment variables, RBAC on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7958097" y="4739853"/>
            <a:ext cx="1139100" cy="361500"/>
          </a:xfrm>
          <a:prstGeom prst="rect">
            <a:avLst/>
          </a:prstGeom>
          <a:solidFill>
            <a:srgbClr val="FDFAF7"/>
          </a:solidFill>
          <a:ln cap="flat" cmpd="sng" w="9525">
            <a:solidFill>
              <a:srgbClr val="FDF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980182" y="408236"/>
            <a:ext cx="622697" cy="187375"/>
          </a:xfrm>
          <a:prstGeom prst="roundRect">
            <a:avLst>
              <a:gd fmla="val 18669" name="adj"/>
            </a:avLst>
          </a:prstGeom>
          <a:noFill/>
          <a:ln cap="flat" cmpd="sng" w="9525">
            <a:solidFill>
              <a:srgbClr val="623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1047378" y="444178"/>
            <a:ext cx="945505" cy="115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6237C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6237C8"/>
                </a:solidFill>
                <a:latin typeface="Inter"/>
                <a:ea typeface="Inter"/>
                <a:cs typeface="Inter"/>
                <a:sym typeface="Inter"/>
              </a:rPr>
              <a:t>RELIABILITY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980182" y="626120"/>
            <a:ext cx="3562424" cy="357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2250"/>
              <a:buFont typeface="Petrona"/>
              <a:buNone/>
            </a:pPr>
            <a:r>
              <a:rPr b="1" i="0" lang="en-US" sz="225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Scalability &amp; Reliability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895" y="1808783"/>
            <a:ext cx="1708472" cy="10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1141437" y="1927175"/>
            <a:ext cx="1414537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lang="en-US" sz="11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Rate Limiting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141437" y="2182564"/>
            <a:ext cx="1414537" cy="57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IP-based throttling (10 req/min) prevents abuse and ensures stability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503" y="1808783"/>
            <a:ext cx="1708472" cy="10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2912046" y="1927175"/>
            <a:ext cx="1414537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2912046" y="2182564"/>
            <a:ext cx="1414537" cy="57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Sensitive trace data sanitised before storage; role-based dashboard 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895" y="2955131"/>
            <a:ext cx="1708472" cy="10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1141437" y="3073524"/>
            <a:ext cx="1414537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141437" y="3328913"/>
            <a:ext cx="1414537" cy="57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Cache repeated failure patterns — reduces cost and latency on recurring errors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503" y="2955131"/>
            <a:ext cx="1708472" cy="10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/>
          <p:nvPr/>
        </p:nvSpPr>
        <p:spPr>
          <a:xfrm>
            <a:off x="2912046" y="3073524"/>
            <a:ext cx="1414537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Petrona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Self-Monitoring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2912046" y="3328913"/>
            <a:ext cx="1414537" cy="43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If Analyzer fails, falls back to raw trace dump — </a:t>
            </a:r>
            <a:r>
              <a:rPr b="1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silent failures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638" y="1184523"/>
            <a:ext cx="3464793" cy="346479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7958097" y="4739853"/>
            <a:ext cx="1139100" cy="361500"/>
          </a:xfrm>
          <a:prstGeom prst="rect">
            <a:avLst/>
          </a:prstGeom>
          <a:solidFill>
            <a:srgbClr val="FDFAF7"/>
          </a:solidFill>
          <a:ln cap="flat" cmpd="sng" w="9525">
            <a:solidFill>
              <a:srgbClr val="FDF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496119" y="512936"/>
            <a:ext cx="748308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623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585936" y="560189"/>
            <a:ext cx="1025872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237C8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237C8"/>
                </a:solidFill>
                <a:latin typeface="Inter"/>
                <a:ea typeface="Inter"/>
                <a:cs typeface="Inter"/>
                <a:sym typeface="Inter"/>
              </a:rPr>
              <a:t>ROADMAP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96119" y="845567"/>
            <a:ext cx="4355753" cy="487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5F88"/>
              </a:buClr>
              <a:buSzPts val="3050"/>
              <a:buFont typeface="Petrona"/>
              <a:buNone/>
            </a:pPr>
            <a:r>
              <a:rPr b="1" i="0" lang="en-US" sz="3050" u="none" cap="none" strike="noStrike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Execution Roadmap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96119" y="2894856"/>
            <a:ext cx="8151763" cy="19050"/>
          </a:xfrm>
          <a:prstGeom prst="roundRect">
            <a:avLst>
              <a:gd fmla="val 312558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2063725" y="2469579"/>
            <a:ext cx="19050" cy="425276"/>
          </a:xfrm>
          <a:prstGeom prst="roundRect">
            <a:avLst>
              <a:gd fmla="val 312558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1913781" y="2735387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1956308" y="2748669"/>
            <a:ext cx="233883" cy="292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098649" y="1545431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Phase 1 — Round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637877" y="1874193"/>
            <a:ext cx="287082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Core LangGraph pipeline · Langfuse tracing · Basic failure detection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3729558" y="2894856"/>
            <a:ext cx="19050" cy="425276"/>
          </a:xfrm>
          <a:prstGeom prst="roundRect">
            <a:avLst>
              <a:gd fmla="val 312558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3579614" y="2735387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3622142" y="2748669"/>
            <a:ext cx="233883" cy="292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764408" y="3461891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Phase 2 — Round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303636" y="3790652"/>
            <a:ext cx="28708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Full root-cause analyzer · Next.js dashboard · Live failure injection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395317" y="2469579"/>
            <a:ext cx="19050" cy="425276"/>
          </a:xfrm>
          <a:prstGeom prst="roundRect">
            <a:avLst>
              <a:gd fmla="val 312558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245373" y="2735387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5287900" y="2748669"/>
            <a:ext cx="233883" cy="292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430167" y="1545431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Deploy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969395" y="1874193"/>
            <a:ext cx="28708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Render (backend) + Vercel (frontend) — both free 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7061150" y="2894856"/>
            <a:ext cx="19050" cy="425276"/>
          </a:xfrm>
          <a:prstGeom prst="roundRect">
            <a:avLst>
              <a:gd fmla="val 312558" name="adj"/>
            </a:avLst>
          </a:prstGeom>
          <a:solidFill>
            <a:srgbClr val="C6B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6911206" y="2735387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0D7F4"/>
          </a:solidFill>
          <a:ln cap="flat" cmpd="sng" w="9525">
            <a:solidFill>
              <a:srgbClr val="C6B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6953734" y="2748669"/>
            <a:ext cx="233883" cy="292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096000" y="3461891"/>
            <a:ext cx="1949276" cy="24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Future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635228" y="3790652"/>
            <a:ext cx="28708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Predictive failure alerts · Slack/email notifications · CrewAI &amp; AutoGen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96119" y="4403750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Stack: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LangGraph · FastAPI · Next.js · Langfuse · Groq API · SQLite · Tailwind CSS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7958097" y="4739853"/>
            <a:ext cx="1139100" cy="361500"/>
          </a:xfrm>
          <a:prstGeom prst="rect">
            <a:avLst/>
          </a:prstGeom>
          <a:solidFill>
            <a:srgbClr val="FDFAF7"/>
          </a:solidFill>
          <a:ln cap="flat" cmpd="sng" w="9525">
            <a:solidFill>
              <a:srgbClr val="FDF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